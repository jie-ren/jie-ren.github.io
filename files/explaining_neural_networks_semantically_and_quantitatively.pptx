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258" r:id="rId3"/>
    <p:sldId id="388" r:id="rId4"/>
    <p:sldId id="385" r:id="rId5"/>
    <p:sldId id="368" r:id="rId6"/>
    <p:sldId id="375" r:id="rId7"/>
    <p:sldId id="376" r:id="rId8"/>
    <p:sldId id="410" r:id="rId9"/>
    <p:sldId id="369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26323D"/>
    <a:srgbClr val="609FCE"/>
    <a:srgbClr val="1ABC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43"/>
    <p:restoredTop sz="86871"/>
  </p:normalViewPr>
  <p:slideViewPr>
    <p:cSldViewPr snapToGrid="0" snapToObjects="1">
      <p:cViewPr varScale="1">
        <p:scale>
          <a:sx n="78" d="100"/>
          <a:sy n="78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8406A-8484-F649-86FC-311975C8682F}" type="datetimeFigureOut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1F089-2628-B745-B9CF-0784940B0C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F7055-ACAF-CB4E-8CAA-7DCEFB896B75}" type="datetimeFigureOut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B573A-9042-5F4A-986E-1EF0F10D1BA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6280" y="1143000"/>
            <a:ext cx="548544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0E182-2DFB-4052-A03B-A0FE24FA258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4B573A-9042-5F4A-986E-1EF0F10D1BA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4B573A-9042-5F4A-986E-1EF0F10D1BA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how to train models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4B573A-9042-5F4A-986E-1EF0F10D1BA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bias</a:t>
            </a:r>
            <a:r>
              <a:rPr kumimoji="1" lang="zh-CN" altLang="en-US" dirty="0"/>
              <a:t>讲不清楚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4B573A-9042-5F4A-986E-1EF0F10D1BA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how to calculate w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4B573A-9042-5F4A-986E-1EF0F10D1BA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4B573A-9042-5F4A-986E-1EF0F10D1BA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4B573A-9042-5F4A-986E-1EF0F10D1BA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963"/>
            <a:ext cx="6858000" cy="179110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140"/>
            <a:ext cx="6858000" cy="124210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8035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B75E-D0B9-8F4F-96C9-523D339E146A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pattFill prst="pct3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286D-B9CA-DA44-9A1A-E54BC98BFC47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94"/>
            <a:ext cx="7886700" cy="21400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876"/>
            <a:ext cx="7886700" cy="112539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80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9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2ED76-AEDE-0A4A-9FD1-8C4E0BFBD569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528"/>
            <a:ext cx="3886200" cy="326424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528"/>
            <a:ext cx="3886200" cy="326424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8181-A4DA-5946-BEA9-979375D06536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906"/>
            <a:ext cx="7886700" cy="99439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158"/>
            <a:ext cx="3868340" cy="61807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232"/>
            <a:ext cx="3868340" cy="2764066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158"/>
            <a:ext cx="3887391" cy="61807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232"/>
            <a:ext cx="3887391" cy="2764066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69EE4-4A55-3845-8205-DBBB77850E74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5DE0E-E505-7D42-9F13-769AC3632D71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89EC-5121-2A4E-B9D5-14A63EBDC7D6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78"/>
            <a:ext cx="2949178" cy="120042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736"/>
            <a:ext cx="4629150" cy="365604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99"/>
            <a:ext cx="2949178" cy="2859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8035" indent="0">
              <a:buNone/>
              <a:defRPr sz="750"/>
            </a:lvl7pPr>
            <a:lvl8pPr marL="2400935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23DE-CE62-504E-9C2B-A221F856E5C7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78"/>
            <a:ext cx="2949178" cy="120042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736"/>
            <a:ext cx="4629150" cy="3656046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99"/>
            <a:ext cx="2949178" cy="2859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8035" indent="0">
              <a:buNone/>
              <a:defRPr sz="750"/>
            </a:lvl7pPr>
            <a:lvl8pPr marL="2400935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D093-E821-EB46-BBE4-91DF8EBEF7C2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3C9-9E60-C84C-A224-02324313B18D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906"/>
            <a:ext cx="1971675" cy="4359865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906"/>
            <a:ext cx="5800725" cy="4359865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B873-0EDE-2C42-B1EB-A22BF7B7F765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920"/>
            <a:ext cx="6858000" cy="179101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B75E-D0B9-8F4F-96C9-523D339E146A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286D-B9CA-DA44-9A1A-E54BC98BFC47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2ED76-AEDE-0A4A-9FD1-8C4E0BFBD569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458"/>
            <a:ext cx="3886200" cy="326407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458"/>
            <a:ext cx="3886200" cy="326407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8181-A4DA-5946-BEA9-979375D06536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994346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93"/>
            <a:ext cx="3868340" cy="61804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135"/>
            <a:ext cx="3868340" cy="276392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93"/>
            <a:ext cx="3887391" cy="61804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135"/>
            <a:ext cx="3887391" cy="276392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69EE4-4A55-3845-8205-DBBB77850E74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5DE0E-E505-7D42-9F13-769AC3632D71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89EC-5121-2A4E-B9D5-14A63EBDC7D6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23DE-CE62-504E-9C2B-A221F856E5C7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D093-E821-EB46-BBE4-91DF8EBEF7C2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3C9-9E60-C84C-A224-02324313B18D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92"/>
            <a:ext cx="1971675" cy="4359641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92"/>
            <a:ext cx="5800725" cy="4359641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B873-0EDE-2C42-B1EB-A22BF7B7F765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906"/>
            <a:ext cx="7886700" cy="994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528"/>
            <a:ext cx="7886700" cy="3264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8341"/>
            <a:ext cx="2057400" cy="273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BB26B-357B-6741-9B90-50A050E3A099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8341"/>
            <a:ext cx="3086100" cy="273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8341"/>
            <a:ext cx="2057400" cy="273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007610" y="56515"/>
            <a:ext cx="3507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Explaining neural networks Semantically and Quanitatively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8156575" y="56515"/>
            <a:ext cx="941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Poster #4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458"/>
            <a:ext cx="7886700" cy="3264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8096"/>
            <a:ext cx="20574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BB26B-357B-6741-9B90-50A050E3A099}" type="datetime1">
              <a:rPr kumimoji="1" lang="zh-CN" altLang="en-US" smtClean="0"/>
              <a:t>2019/9/30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8096"/>
            <a:ext cx="30861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8096"/>
            <a:ext cx="20574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5A0CB-39E5-E240-BD63-76B9C234143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7894320" y="25400"/>
            <a:ext cx="1261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Poster #4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wmf"/><Relationship Id="rId12" Type="http://schemas.openxmlformats.org/officeDocument/2006/relationships/image" Target="../media/image7.jpe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6.jpeg"/><Relationship Id="rId5" Type="http://schemas.openxmlformats.org/officeDocument/2006/relationships/image" Target="../media/image1.png"/><Relationship Id="rId10" Type="http://schemas.openxmlformats.org/officeDocument/2006/relationships/image" Target="../media/image5.jpe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6200" y="818225"/>
            <a:ext cx="9133284" cy="1153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 anchor="ctr" anchorCtr="1">
            <a:spAutoFit/>
          </a:bodyPr>
          <a:lstStyle/>
          <a:p>
            <a:pPr algn="ctr" defTabSz="1450340"/>
            <a:r>
              <a:rPr kumimoji="1" lang="en-US" altLang="en-CA" sz="3600" b="1" dirty="0">
                <a:solidFill>
                  <a:srgbClr val="26323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Explaining Neural Networks</a:t>
            </a:r>
          </a:p>
          <a:p>
            <a:pPr algn="ctr" defTabSz="1450340"/>
            <a:r>
              <a:rPr kumimoji="1" lang="en-US" altLang="en-CA" sz="3600" b="1" dirty="0">
                <a:solidFill>
                  <a:srgbClr val="26323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Semantically and Quantitatively</a:t>
            </a:r>
          </a:p>
        </p:txBody>
      </p:sp>
      <p:sp>
        <p:nvSpPr>
          <p:cNvPr id="11" name="直接连接符 6"/>
          <p:cNvSpPr>
            <a:spLocks noChangeShapeType="1"/>
          </p:cNvSpPr>
          <p:nvPr/>
        </p:nvSpPr>
        <p:spPr bwMode="auto">
          <a:xfrm>
            <a:off x="1197000" y="1971027"/>
            <a:ext cx="6750000" cy="1190"/>
          </a:xfrm>
          <a:prstGeom prst="line">
            <a:avLst/>
          </a:prstGeom>
          <a:noFill/>
          <a:ln w="19050">
            <a:solidFill>
              <a:srgbClr val="26323D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solidFill>
                <a:srgbClr val="26323D"/>
              </a:solidFill>
            </a:endParaRPr>
          </a:p>
        </p:txBody>
      </p:sp>
      <p:sp>
        <p:nvSpPr>
          <p:cNvPr id="15" name="直接连接符 7"/>
          <p:cNvSpPr>
            <a:spLocks noChangeShapeType="1"/>
          </p:cNvSpPr>
          <p:nvPr/>
        </p:nvSpPr>
        <p:spPr bwMode="auto">
          <a:xfrm>
            <a:off x="1197000" y="818270"/>
            <a:ext cx="6750000" cy="0"/>
          </a:xfrm>
          <a:prstGeom prst="line">
            <a:avLst/>
          </a:prstGeom>
          <a:noFill/>
          <a:ln w="19050">
            <a:solidFill>
              <a:srgbClr val="26323D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solidFill>
                <a:srgbClr val="26323D"/>
              </a:solidFill>
            </a:endParaRPr>
          </a:p>
        </p:txBody>
      </p: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33900" y="1740032"/>
          <a:ext cx="76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r:id="rId6" imgW="76200" imgH="190500" progId="Equation.KSEE3">
                  <p:embed/>
                </p:oleObj>
              </mc:Choice>
              <mc:Fallback>
                <p:oleObj r:id="rId6" imgW="76200" imgH="190500" progId="Equation.KSEE3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33900" y="1740032"/>
                        <a:ext cx="76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71905" y="3970020"/>
            <a:ext cx="6602730" cy="86042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>
                <a:solidFill>
                  <a:srgbClr val="26323D"/>
                </a:solidFill>
              </a:rPr>
              <a:t>John Hopcroft Center,</a:t>
            </a:r>
          </a:p>
          <a:p>
            <a:pPr algn="l"/>
            <a:r>
              <a:rPr lang="en-US" altLang="zh-CN">
                <a:solidFill>
                  <a:srgbClr val="26323D"/>
                </a:solidFill>
              </a:rPr>
              <a:t>Shanghai Jiao Tong University, China</a:t>
            </a:r>
          </a:p>
          <a:p>
            <a:r>
              <a:rPr lang="en-US" altLang="zh-CN" sz="1400">
                <a:solidFill>
                  <a:schemeClr val="accent5">
                    <a:lumMod val="60000"/>
                    <a:lumOff val="40000"/>
                  </a:schemeClr>
                </a:solidFill>
                <a:latin typeface="+mn-ea"/>
                <a:cs typeface="Calibri" panose="020F0502020204030204" pitchFamily="34" charset="0"/>
              </a:rPr>
              <a:t>( </a:t>
            </a:r>
            <a:r>
              <a:rPr lang="en-US" altLang="zh-CN" sz="1400" baseline="30000">
                <a:solidFill>
                  <a:schemeClr val="accent5">
                    <a:lumMod val="60000"/>
                    <a:lumOff val="40000"/>
                  </a:schemeClr>
                </a:solidFill>
                <a:latin typeface="+mn-ea"/>
                <a:cs typeface="Calibri" panose="020F0502020204030204" pitchFamily="34" charset="0"/>
              </a:rPr>
              <a:t>* </a:t>
            </a:r>
            <a:r>
              <a:rPr lang="en-US" altLang="zh-CN" sz="1400">
                <a:solidFill>
                  <a:schemeClr val="accent5">
                    <a:lumMod val="60000"/>
                    <a:lumOff val="40000"/>
                  </a:schemeClr>
                </a:solidFill>
                <a:latin typeface="+mn-ea"/>
                <a:cs typeface="Calibri" panose="020F0502020204030204" pitchFamily="34" charset="0"/>
              </a:rPr>
              <a:t>equal contribution)</a:t>
            </a:r>
            <a:endParaRPr lang="zh-CN" altLang="en-US" sz="1400">
              <a:solidFill>
                <a:schemeClr val="accent5">
                  <a:lumMod val="60000"/>
                  <a:lumOff val="40000"/>
                </a:schemeClr>
              </a:solidFill>
              <a:latin typeface="+mn-ea"/>
              <a:cs typeface="Calibri" panose="020F050202020403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8" y="14420"/>
            <a:ext cx="2644905" cy="86949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5715" y="2244857"/>
            <a:ext cx="9133205" cy="1547363"/>
            <a:chOff x="9" y="4615"/>
            <a:chExt cx="14383" cy="2437"/>
          </a:xfrm>
        </p:grpSpPr>
        <p:sp>
          <p:nvSpPr>
            <p:cNvPr id="3" name="文本框 2"/>
            <p:cNvSpPr txBox="1"/>
            <p:nvPr/>
          </p:nvSpPr>
          <p:spPr>
            <a:xfrm>
              <a:off x="9" y="6472"/>
              <a:ext cx="1438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pc="50" dirty="0">
                  <a:ln w="0"/>
                  <a:solidFill>
                    <a:srgbClr val="26323D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Runjin Chen</a:t>
              </a:r>
              <a:r>
                <a:rPr lang="en-US" altLang="zh-CN" spc="50" baseline="30000" dirty="0">
                  <a:ln w="0"/>
                  <a:solidFill>
                    <a:srgbClr val="26323D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*</a:t>
              </a:r>
              <a:r>
                <a:rPr lang="en-US" altLang="zh-CN" spc="50" dirty="0">
                  <a:ln w="0"/>
                  <a:solidFill>
                    <a:srgbClr val="26323D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Hao Chen</a:t>
              </a:r>
              <a:r>
                <a:rPr lang="en-US" altLang="zh-CN" spc="50" baseline="30000" dirty="0">
                  <a:ln w="0"/>
                  <a:solidFill>
                    <a:srgbClr val="26323D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*</a:t>
              </a:r>
              <a:r>
                <a:rPr lang="en-US" altLang="zh-CN" spc="50" dirty="0">
                  <a:ln w="0"/>
                  <a:solidFill>
                    <a:srgbClr val="26323D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Jie Ren, Ge Huang, Quanshi Zhang</a:t>
              </a:r>
            </a:p>
          </p:txBody>
        </p:sp>
        <p:pic>
          <p:nvPicPr>
            <p:cNvPr id="7" name="图片 6" descr="IMG_8941 1寸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37" y="4666"/>
              <a:ext cx="1327" cy="1857"/>
            </a:xfrm>
            <a:prstGeom prst="rect">
              <a:avLst/>
            </a:prstGeom>
          </p:spPr>
        </p:pic>
        <p:pic>
          <p:nvPicPr>
            <p:cNvPr id="9" name="图片 8" descr="hg"/>
            <p:cNvPicPr>
              <a:picLocks noChangeAspect="1"/>
            </p:cNvPicPr>
            <p:nvPr/>
          </p:nvPicPr>
          <p:blipFill>
            <a:blip r:embed="rId10"/>
            <a:srcRect l="15393" r="12934"/>
            <a:stretch>
              <a:fillRect/>
            </a:stretch>
          </p:blipFill>
          <p:spPr>
            <a:xfrm>
              <a:off x="8307" y="4651"/>
              <a:ext cx="1341" cy="1871"/>
            </a:xfrm>
            <a:prstGeom prst="rect">
              <a:avLst/>
            </a:prstGeom>
          </p:spPr>
        </p:pic>
        <p:pic>
          <p:nvPicPr>
            <p:cNvPr id="10" name="图片 9" descr="zqs"/>
            <p:cNvPicPr>
              <a:picLocks noChangeAspect="1"/>
            </p:cNvPicPr>
            <p:nvPr/>
          </p:nvPicPr>
          <p:blipFill>
            <a:blip r:embed="rId11"/>
            <a:srcRect l="19832" t="12048" r="22378" b="15073"/>
            <a:stretch>
              <a:fillRect/>
            </a:stretch>
          </p:blipFill>
          <p:spPr>
            <a:xfrm>
              <a:off x="10264" y="4666"/>
              <a:ext cx="1361" cy="1857"/>
            </a:xfrm>
            <a:prstGeom prst="rect">
              <a:avLst/>
            </a:prstGeom>
          </p:spPr>
        </p:pic>
        <p:pic>
          <p:nvPicPr>
            <p:cNvPr id="12" name="图片 11" descr="crj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86" y="4615"/>
              <a:ext cx="1326" cy="1896"/>
            </a:xfrm>
            <a:prstGeom prst="rect">
              <a:avLst/>
            </a:prstGeom>
          </p:spPr>
        </p:pic>
        <p:pic>
          <p:nvPicPr>
            <p:cNvPr id="13" name="图片 12" descr="ch"/>
            <p:cNvPicPr>
              <a:picLocks noChangeAspect="1"/>
            </p:cNvPicPr>
            <p:nvPr/>
          </p:nvPicPr>
          <p:blipFill>
            <a:blip r:embed="rId13"/>
            <a:srcRect l="14752" r="13002"/>
            <a:stretch>
              <a:fillRect/>
            </a:stretch>
          </p:blipFill>
          <p:spPr>
            <a:xfrm>
              <a:off x="4396" y="4651"/>
              <a:ext cx="1344" cy="1860"/>
            </a:xfrm>
            <a:prstGeom prst="rect">
              <a:avLst/>
            </a:prstGeom>
          </p:spPr>
        </p:pic>
      </p:grpSp>
    </p:spTree>
    <p:custDataLst>
      <p:tags r:id="rId2"/>
    </p:custDataLst>
  </p:cSld>
  <p:clrMapOvr>
    <a:masterClrMapping/>
  </p:clrMapOvr>
  <p:transition advTm="13852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390"/>
          <p:cNvSpPr txBox="1">
            <a:spLocks noChangeArrowheads="1"/>
          </p:cNvSpPr>
          <p:nvPr/>
        </p:nvSpPr>
        <p:spPr bwMode="auto">
          <a:xfrm>
            <a:off x="821055" y="240136"/>
            <a:ext cx="676560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sz="2400" b="1" dirty="0">
                <a:ln w="0"/>
                <a:solidFill>
                  <a:srgbClr val="26323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+mn-ea"/>
              </a:rPr>
              <a:t>Overview of the Task</a:t>
            </a:r>
            <a:endParaRPr lang="en-US" sz="2400" b="1" dirty="0">
              <a:ln w="0"/>
              <a:solidFill>
                <a:srgbClr val="26323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13" name="组合 49"/>
          <p:cNvGrpSpPr/>
          <p:nvPr/>
        </p:nvGrpSpPr>
        <p:grpSpPr>
          <a:xfrm>
            <a:off x="435819" y="279614"/>
            <a:ext cx="197506" cy="296260"/>
            <a:chOff x="5284519" y="1508166"/>
            <a:chExt cx="213756" cy="427512"/>
          </a:xfrm>
        </p:grpSpPr>
        <p:cxnSp>
          <p:nvCxnSpPr>
            <p:cNvPr id="14" name="直接连接符 50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51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直角三角形 18"/>
          <p:cNvSpPr/>
          <p:nvPr/>
        </p:nvSpPr>
        <p:spPr>
          <a:xfrm flipH="1">
            <a:off x="8328135" y="4328216"/>
            <a:ext cx="815866" cy="815866"/>
          </a:xfrm>
          <a:prstGeom prst="rtTriangle">
            <a:avLst/>
          </a:prstGeom>
          <a:solidFill>
            <a:srgbClr val="26323D"/>
          </a:solidFill>
          <a:ln>
            <a:solidFill>
              <a:srgbClr val="2632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幻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8607974" y="4647467"/>
            <a:ext cx="439463" cy="46114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C03111-C1D4-7D4B-AB9F-B23D9E4AF7E6}" type="slidenum">
              <a:rPr kumimoji="1" lang="zh-CN" altLang="en-US" sz="2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rPr>
              <a:t>2</a:t>
            </a:fld>
            <a:endParaRPr kumimoji="1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Impact" panose="020B0806030902050204" pitchFamily="34" charset="0"/>
              <a:cs typeface="Impact" panose="020B0806030902050204" pitchFamily="34" charset="0"/>
            </a:endParaRPr>
          </a:p>
        </p:txBody>
      </p:sp>
      <p:cxnSp>
        <p:nvCxnSpPr>
          <p:cNvPr id="9" name="直线连接符 8"/>
          <p:cNvCxnSpPr/>
          <p:nvPr/>
        </p:nvCxnSpPr>
        <p:spPr>
          <a:xfrm flipV="1">
            <a:off x="322828" y="757327"/>
            <a:ext cx="8521629" cy="0"/>
          </a:xfrm>
          <a:prstGeom prst="line">
            <a:avLst/>
          </a:prstGeom>
          <a:ln w="12700">
            <a:solidFill>
              <a:srgbClr val="26323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35610" y="757555"/>
            <a:ext cx="809180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</a:t>
            </a:r>
          </a:p>
          <a:p>
            <a:pPr marL="742950" lvl="1" indent="-285750" fontAlgn="auto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pre-trained</a:t>
            </a:r>
            <a:r>
              <a:rPr lang="en-US" altLang="zh-CN" sz="20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neural network</a:t>
            </a:r>
          </a:p>
          <a:p>
            <a:pPr marL="742950" lvl="1" indent="-285750" fontAlgn="auto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pre-defined visual concepts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lang="en-US" altLang="zh-CN" sz="2000" b="1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contributions</a:t>
            </a:r>
            <a:r>
              <a:rPr lang="en-US" altLang="zh-CN" sz="20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visual concepts to the final predictions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Semantic</a:t>
            </a:r>
            <a:r>
              <a:rPr lang="en-US" altLang="zh-CN" sz="2000" b="1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zh-CN" sz="20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: using clear visual concepts</a:t>
            </a:r>
            <a:endParaRPr lang="en-US" altLang="zh-CN" sz="2000">
              <a:solidFill>
                <a:srgbClr val="26323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Quantitative</a:t>
            </a:r>
            <a:r>
              <a:rPr lang="en-US" altLang="zh-CN" sz="2000" b="1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zh-CN" sz="20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: analyzing the contribution of visual concepts</a:t>
            </a:r>
            <a:endParaRPr lang="en-US" altLang="zh-CN" sz="2000">
              <a:solidFill>
                <a:srgbClr val="26323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272415" y="2778760"/>
            <a:ext cx="8602980" cy="2056892"/>
            <a:chOff x="442" y="4304"/>
            <a:chExt cx="13548" cy="3239"/>
          </a:xfrm>
        </p:grpSpPr>
        <p:grpSp>
          <p:nvGrpSpPr>
            <p:cNvPr id="40" name="组合 39"/>
            <p:cNvGrpSpPr/>
            <p:nvPr/>
          </p:nvGrpSpPr>
          <p:grpSpPr>
            <a:xfrm>
              <a:off x="9460" y="4518"/>
              <a:ext cx="4530" cy="996"/>
              <a:chOff x="9460" y="4518"/>
              <a:chExt cx="4530" cy="996"/>
            </a:xfrm>
          </p:grpSpPr>
          <p:cxnSp>
            <p:nvCxnSpPr>
              <p:cNvPr id="35" name="直接箭头连接符 34"/>
              <p:cNvCxnSpPr>
                <a:stCxn id="32" idx="3"/>
              </p:cNvCxnSpPr>
              <p:nvPr/>
            </p:nvCxnSpPr>
            <p:spPr>
              <a:xfrm>
                <a:off x="9460" y="5059"/>
                <a:ext cx="2183" cy="0"/>
              </a:xfrm>
              <a:prstGeom prst="straightConnector1">
                <a:avLst/>
              </a:prstGeom>
              <a:ln>
                <a:solidFill>
                  <a:srgbClr val="26323D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文本框 36"/>
              <p:cNvSpPr txBox="1"/>
              <p:nvPr/>
            </p:nvSpPr>
            <p:spPr>
              <a:xfrm>
                <a:off x="9489" y="4518"/>
                <a:ext cx="2136" cy="531"/>
              </a:xfrm>
              <a:prstGeom prst="rect">
                <a:avLst/>
              </a:prstGeom>
              <a:noFill/>
            </p:spPr>
            <p:txBody>
              <a:bodyPr wrap="none" rtlCol="0" anchor="ctr" anchorCtr="1">
                <a:spAutoFit/>
              </a:bodyPr>
              <a:lstStyle/>
              <a:p>
                <a:pPr algn="l"/>
                <a:r>
                  <a:rPr lang="en-US" altLang="zh-CN" sz="1600">
                    <a:solidFill>
                      <a:srgbClr val="C55A1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+mn-ea"/>
                  </a:rPr>
                  <a:t>semantic level</a:t>
                </a: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9558" y="4983"/>
                <a:ext cx="1855" cy="531"/>
              </a:xfrm>
              <a:prstGeom prst="rect">
                <a:avLst/>
              </a:prstGeom>
              <a:noFill/>
            </p:spPr>
            <p:txBody>
              <a:bodyPr wrap="none" rtlCol="0" anchor="ctr" anchorCtr="1">
                <a:spAutoFit/>
              </a:bodyPr>
              <a:lstStyle/>
              <a:p>
                <a:pPr algn="l"/>
                <a:r>
                  <a:rPr lang="en-US" altLang="zh-CN" sz="1600">
                    <a:solidFill>
                      <a:srgbClr val="C55A1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+mn-ea"/>
                  </a:rPr>
                  <a:t>quantitative</a:t>
                </a: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11655" y="4548"/>
                <a:ext cx="2335" cy="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>
                    <a:solidFill>
                      <a:srgbClr val="C55A1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trustworthiness</a:t>
                </a:r>
              </a:p>
              <a:p>
                <a:pPr algn="l"/>
                <a:r>
                  <a:rPr lang="en-US" altLang="zh-CN" sz="1600">
                    <a:solidFill>
                      <a:srgbClr val="C55A1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safety</a:t>
                </a: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598" y="4385"/>
              <a:ext cx="4743" cy="1391"/>
              <a:chOff x="1829" y="5015"/>
              <a:chExt cx="9305" cy="2669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rcRect r="73689"/>
              <a:stretch>
                <a:fillRect/>
              </a:stretch>
            </p:blipFill>
            <p:spPr>
              <a:xfrm>
                <a:off x="1829" y="5015"/>
                <a:ext cx="2177" cy="2669"/>
              </a:xfrm>
              <a:prstGeom prst="rect">
                <a:avLst/>
              </a:prstGeom>
            </p:spPr>
          </p:pic>
          <p:grpSp>
            <p:nvGrpSpPr>
              <p:cNvPr id="8" name="组合 7"/>
              <p:cNvGrpSpPr/>
              <p:nvPr/>
            </p:nvGrpSpPr>
            <p:grpSpPr>
              <a:xfrm>
                <a:off x="4022" y="5103"/>
                <a:ext cx="7112" cy="2493"/>
                <a:chOff x="3879" y="5103"/>
                <a:chExt cx="7112" cy="2493"/>
              </a:xfrm>
            </p:grpSpPr>
            <p:pic>
              <p:nvPicPr>
                <p:cNvPr id="7" name="图片 6"/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</a:blip>
                <a:srcRect l="25583" t="4661" r="68946"/>
                <a:stretch>
                  <a:fillRect/>
                </a:stretch>
              </p:blipFill>
              <p:spPr>
                <a:xfrm>
                  <a:off x="3879" y="5103"/>
                  <a:ext cx="382" cy="2493"/>
                </a:xfrm>
                <a:prstGeom prst="rect">
                  <a:avLst/>
                </a:prstGeom>
              </p:spPr>
            </p:pic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</a:blip>
                <a:srcRect l="31892" t="4661"/>
                <a:stretch>
                  <a:fillRect/>
                </a:stretch>
              </p:blipFill>
              <p:spPr>
                <a:xfrm>
                  <a:off x="4362" y="5137"/>
                  <a:ext cx="6629" cy="2431"/>
                </a:xfrm>
                <a:prstGeom prst="rect">
                  <a:avLst/>
                </a:prstGeom>
              </p:spPr>
            </p:pic>
          </p:grpSp>
        </p:grp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17974" r="80680" b="14649"/>
            <a:stretch>
              <a:fillRect/>
            </a:stretch>
          </p:blipFill>
          <p:spPr>
            <a:xfrm>
              <a:off x="442" y="5001"/>
              <a:ext cx="1433" cy="1378"/>
            </a:xfrm>
            <a:prstGeom prst="rect">
              <a:avLst/>
            </a:prstGeom>
          </p:spPr>
        </p:pic>
        <p:cxnSp>
          <p:nvCxnSpPr>
            <p:cNvPr id="28" name="直接箭头连接符 27"/>
            <p:cNvCxnSpPr>
              <a:stCxn id="2" idx="3"/>
            </p:cNvCxnSpPr>
            <p:nvPr/>
          </p:nvCxnSpPr>
          <p:spPr>
            <a:xfrm flipV="1">
              <a:off x="1863" y="4832"/>
              <a:ext cx="654" cy="858"/>
            </a:xfrm>
            <a:prstGeom prst="straightConnector1">
              <a:avLst/>
            </a:prstGeom>
            <a:ln>
              <a:solidFill>
                <a:srgbClr val="26323D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2" idx="3"/>
            </p:cNvCxnSpPr>
            <p:nvPr/>
          </p:nvCxnSpPr>
          <p:spPr>
            <a:xfrm>
              <a:off x="1863" y="5690"/>
              <a:ext cx="654" cy="1021"/>
            </a:xfrm>
            <a:prstGeom prst="straightConnector1">
              <a:avLst/>
            </a:prstGeom>
            <a:ln>
              <a:solidFill>
                <a:srgbClr val="26323D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2679" y="4475"/>
              <a:ext cx="215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00000"/>
                </a:lnSpc>
              </a:pPr>
              <a:r>
                <a:rPr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our explanation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2679" y="4304"/>
              <a:ext cx="6781" cy="1509"/>
            </a:xfrm>
            <a:prstGeom prst="rect">
              <a:avLst/>
            </a:prstGeom>
            <a:noFill/>
            <a:ln w="12700" cmpd="sng">
              <a:solidFill>
                <a:srgbClr val="26323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2657" y="5874"/>
              <a:ext cx="6803" cy="1669"/>
              <a:chOff x="3101" y="6073"/>
              <a:chExt cx="6803" cy="1669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4826" y="6240"/>
                <a:ext cx="4819" cy="1502"/>
                <a:chOff x="2640" y="6098"/>
                <a:chExt cx="5810" cy="2005"/>
              </a:xfrm>
            </p:grpSpPr>
            <p:pic>
              <p:nvPicPr>
                <p:cNvPr id="4" name="图片 3"/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</a:blip>
                <a:srcRect l="20869" t="17974" r="59780" b="14649"/>
                <a:stretch>
                  <a:fillRect/>
                </a:stretch>
              </p:blipFill>
              <p:spPr>
                <a:xfrm>
                  <a:off x="3120" y="6114"/>
                  <a:ext cx="1748" cy="1312"/>
                </a:xfrm>
                <a:prstGeom prst="rect">
                  <a:avLst/>
                </a:prstGeom>
              </p:spPr>
            </p:pic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</a:blip>
                <a:srcRect l="60578" t="17974" r="19927" b="14649"/>
                <a:stretch>
                  <a:fillRect/>
                </a:stretch>
              </p:blipFill>
              <p:spPr>
                <a:xfrm>
                  <a:off x="5506" y="6098"/>
                  <a:ext cx="1761" cy="1312"/>
                </a:xfrm>
                <a:prstGeom prst="rect">
                  <a:avLst/>
                </a:prstGeom>
              </p:spPr>
            </p:pic>
            <p:grpSp>
              <p:nvGrpSpPr>
                <p:cNvPr id="24" name="组合 23"/>
                <p:cNvGrpSpPr/>
                <p:nvPr/>
              </p:nvGrpSpPr>
              <p:grpSpPr>
                <a:xfrm>
                  <a:off x="2640" y="7426"/>
                  <a:ext cx="5810" cy="676"/>
                  <a:chOff x="1014" y="6758"/>
                  <a:chExt cx="7435" cy="1107"/>
                </a:xfrm>
              </p:grpSpPr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1014" y="6810"/>
                    <a:ext cx="3542" cy="105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altLang="zh-CN" sz="1400">
                        <a:solidFill>
                          <a:srgbClr val="26323D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Grad-CAM</a:t>
                    </a:r>
                    <a:r>
                      <a:rPr lang="en-US" altLang="zh-CN" sz="1400" baseline="3000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Calibri" panose="020F0502020204030204" pitchFamily="34" charset="0"/>
                      </a:rPr>
                      <a:t>[1]</a:t>
                    </a:r>
                  </a:p>
                </p:txBody>
              </p:sp>
              <p:sp>
                <p:nvSpPr>
                  <p:cNvPr id="26" name="文本框 25"/>
                  <p:cNvSpPr txBox="1"/>
                  <p:nvPr/>
                </p:nvSpPr>
                <p:spPr>
                  <a:xfrm>
                    <a:off x="3637" y="6758"/>
                    <a:ext cx="4812" cy="105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altLang="zh-CN" sz="1400">
                        <a:solidFill>
                          <a:srgbClr val="26323D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Visualization of filters</a:t>
                    </a:r>
                    <a:r>
                      <a:rPr lang="en-US" altLang="zh-CN" sz="1400" baseline="3000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Calibri" panose="020F0502020204030204" pitchFamily="34" charset="0"/>
                      </a:rPr>
                      <a:t>[2]</a:t>
                    </a:r>
                  </a:p>
                </p:txBody>
              </p:sp>
            </p:grpSp>
          </p:grpSp>
          <p:sp>
            <p:nvSpPr>
              <p:cNvPr id="31" name="文本框 30"/>
              <p:cNvSpPr txBox="1"/>
              <p:nvPr/>
            </p:nvSpPr>
            <p:spPr>
              <a:xfrm>
                <a:off x="3101" y="6189"/>
                <a:ext cx="2151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00000"/>
                  </a:lnSpc>
                </a:pPr>
                <a:r>
                  <a:rPr lang="en-US" altLang="zh-CN">
                    <a:latin typeface="Calibri" panose="020F0502020204030204" pitchFamily="34" charset="0"/>
                    <a:cs typeface="Calibri" panose="020F0502020204030204" pitchFamily="34" charset="0"/>
                  </a:rPr>
                  <a:t>previous explanation</a:t>
                </a: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3125" y="6073"/>
                <a:ext cx="6779" cy="1625"/>
              </a:xfrm>
              <a:prstGeom prst="rect">
                <a:avLst/>
              </a:prstGeom>
              <a:noFill/>
              <a:ln w="12700" cmpd="sng">
                <a:solidFill>
                  <a:srgbClr val="26323D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9442" y="6177"/>
              <a:ext cx="3201" cy="965"/>
              <a:chOff x="9417" y="4514"/>
              <a:chExt cx="3201" cy="965"/>
            </a:xfrm>
          </p:grpSpPr>
          <p:cxnSp>
            <p:nvCxnSpPr>
              <p:cNvPr id="42" name="直接箭头连接符 41"/>
              <p:cNvCxnSpPr/>
              <p:nvPr/>
            </p:nvCxnSpPr>
            <p:spPr>
              <a:xfrm>
                <a:off x="9417" y="5023"/>
                <a:ext cx="2183" cy="0"/>
              </a:xfrm>
              <a:prstGeom prst="straightConnector1">
                <a:avLst/>
              </a:prstGeom>
              <a:ln>
                <a:solidFill>
                  <a:srgbClr val="26323D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文本框 42"/>
              <p:cNvSpPr txBox="1"/>
              <p:nvPr/>
            </p:nvSpPr>
            <p:spPr>
              <a:xfrm>
                <a:off x="9653" y="4514"/>
                <a:ext cx="1592" cy="531"/>
              </a:xfrm>
              <a:prstGeom prst="rect">
                <a:avLst/>
              </a:prstGeom>
              <a:noFill/>
            </p:spPr>
            <p:txBody>
              <a:bodyPr wrap="none" rtlCol="0" anchor="ctr" anchorCtr="1">
                <a:spAutoFit/>
              </a:bodyPr>
              <a:lstStyle/>
              <a:p>
                <a:pPr algn="l"/>
                <a:r>
                  <a:rPr lang="en-US" altLang="zh-CN" sz="1600">
                    <a:solidFill>
                      <a:srgbClr val="C55A1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+mn-ea"/>
                  </a:rPr>
                  <a:t>pixel-level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9609" y="4948"/>
                <a:ext cx="1656" cy="531"/>
              </a:xfrm>
              <a:prstGeom prst="rect">
                <a:avLst/>
              </a:prstGeom>
              <a:noFill/>
            </p:spPr>
            <p:txBody>
              <a:bodyPr wrap="none" rtlCol="0" anchor="ctr" anchorCtr="1">
                <a:spAutoFit/>
              </a:bodyPr>
              <a:lstStyle/>
              <a:p>
                <a:pPr algn="l"/>
                <a:r>
                  <a:rPr lang="en-US" altLang="zh-CN" sz="1600">
                    <a:solidFill>
                      <a:srgbClr val="C55A1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qualitative</a:t>
                </a: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11749" y="4514"/>
                <a:ext cx="869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400">
                    <a:latin typeface="Calibri" panose="020F0502020204030204" pitchFamily="34" charset="0"/>
                    <a:cs typeface="Calibri" panose="020F0502020204030204" pitchFamily="34" charset="0"/>
                  </a:rPr>
                  <a:t>. . .</a:t>
                </a:r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-10160" y="4904105"/>
            <a:ext cx="84289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>
                <a:solidFill>
                  <a:schemeClr val="accent5">
                    <a:lumMod val="60000"/>
                    <a:lumOff val="40000"/>
                  </a:schemeClr>
                </a:solidFill>
              </a:rPr>
              <a:t>[1] Ramprasaath R. Selvaraju, Michael Cogswell, Abhishek Das, Ramakrishna Vedantam, Devi Parikh, and Dhruv Batra. Grad-cam: Visual explanations from deep networks via gradient-based localization. In ICCV, 2017.</a:t>
            </a:r>
          </a:p>
          <a:p>
            <a:r>
              <a:rPr lang="en-US" altLang="zh-CN" sz="700">
                <a:solidFill>
                  <a:schemeClr val="accent5">
                    <a:lumMod val="60000"/>
                    <a:lumOff val="40000"/>
                  </a:schemeClr>
                </a:solidFill>
              </a:rPr>
              <a:t>[2]Aravindh Mahendran and Andrea Vedaldi. Understanding deep image representations by inverting them. In CVPR, 2015.</a:t>
            </a:r>
          </a:p>
        </p:txBody>
      </p:sp>
    </p:spTree>
  </p:cSld>
  <p:clrMapOvr>
    <a:masterClrMapping/>
  </p:clrMapOvr>
  <p:transition advTm="64079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390"/>
          <p:cNvSpPr txBox="1">
            <a:spLocks noChangeArrowheads="1"/>
          </p:cNvSpPr>
          <p:nvPr/>
        </p:nvSpPr>
        <p:spPr bwMode="auto">
          <a:xfrm>
            <a:off x="821055" y="240136"/>
            <a:ext cx="676560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sz="2400" b="1" dirty="0">
                <a:ln w="0"/>
                <a:solidFill>
                  <a:srgbClr val="26323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Overview of the Task</a:t>
            </a:r>
          </a:p>
        </p:txBody>
      </p:sp>
      <p:grpSp>
        <p:nvGrpSpPr>
          <p:cNvPr id="13" name="组合 49"/>
          <p:cNvGrpSpPr/>
          <p:nvPr/>
        </p:nvGrpSpPr>
        <p:grpSpPr>
          <a:xfrm>
            <a:off x="435819" y="279614"/>
            <a:ext cx="197506" cy="296260"/>
            <a:chOff x="5284519" y="1508166"/>
            <a:chExt cx="213756" cy="427512"/>
          </a:xfrm>
        </p:grpSpPr>
        <p:cxnSp>
          <p:nvCxnSpPr>
            <p:cNvPr id="14" name="直接连接符 50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51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直角三角形 18"/>
          <p:cNvSpPr/>
          <p:nvPr/>
        </p:nvSpPr>
        <p:spPr>
          <a:xfrm flipH="1">
            <a:off x="8328135" y="4328216"/>
            <a:ext cx="815866" cy="815866"/>
          </a:xfrm>
          <a:prstGeom prst="rtTriangle">
            <a:avLst/>
          </a:prstGeom>
          <a:solidFill>
            <a:srgbClr val="26323D"/>
          </a:solidFill>
          <a:ln>
            <a:solidFill>
              <a:srgbClr val="2632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幻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8607974" y="4647467"/>
            <a:ext cx="439463" cy="46114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C03111-C1D4-7D4B-AB9F-B23D9E4AF7E6}" type="slidenum">
              <a:rPr kumimoji="1" lang="zh-CN" altLang="en-US" sz="2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rPr>
              <a:t>3</a:t>
            </a:fld>
            <a:endParaRPr kumimoji="1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Impact" panose="020B0806030902050204" pitchFamily="34" charset="0"/>
              <a:cs typeface="Impact" panose="020B0806030902050204" pitchFamily="34" charset="0"/>
            </a:endParaRPr>
          </a:p>
        </p:txBody>
      </p:sp>
      <p:cxnSp>
        <p:nvCxnSpPr>
          <p:cNvPr id="9" name="直线连接符 8"/>
          <p:cNvCxnSpPr/>
          <p:nvPr/>
        </p:nvCxnSpPr>
        <p:spPr>
          <a:xfrm flipV="1">
            <a:off x="322828" y="757327"/>
            <a:ext cx="8521629" cy="0"/>
          </a:xfrm>
          <a:prstGeom prst="line">
            <a:avLst/>
          </a:prstGeom>
          <a:ln w="12700">
            <a:solidFill>
              <a:srgbClr val="26323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1455" y="950099"/>
            <a:ext cx="8743950" cy="18034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571500" y="2824480"/>
            <a:ext cx="8001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Performer: the pre-trained network for a certain task,</a:t>
            </a:r>
            <a:r>
              <a:rPr lang="en-US" altLang="zh-CN" i="1">
                <a:latin typeface="Calibri" panose="020F0502020204030204" pitchFamily="34" charset="0"/>
                <a:cs typeface="Calibri" panose="020F0502020204030204" pitchFamily="34" charset="0"/>
              </a:rPr>
              <a:t> i.e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.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Explainer: decompose the overall prediction score into scores of compositional visual concepts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Distillation: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253105" y="3923030"/>
            <a:ext cx="2637155" cy="1185545"/>
            <a:chOff x="5611" y="6028"/>
            <a:chExt cx="3178" cy="1368"/>
          </a:xfrm>
        </p:grpSpPr>
        <p:graphicFrame>
          <p:nvGraphicFramePr>
            <p:cNvPr id="22" name="对象 21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5611" y="6616"/>
            <a:ext cx="3178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" r:id="rId5" imgW="1346200" imgH="330200" progId="Equation.KSEE3">
                    <p:embed/>
                  </p:oleObj>
                </mc:Choice>
                <mc:Fallback>
                  <p:oleObj r:id="rId5" imgW="1346200" imgH="330200" progId="Equation.KSEE3">
                    <p:embed/>
                    <p:pic>
                      <p:nvPicPr>
                        <p:cNvPr id="0" name="图片 512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11" y="6616"/>
                          <a:ext cx="3178" cy="7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5996" y="6028"/>
            <a:ext cx="2407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5" r:id="rId7" imgW="1091565" imgH="266700" progId="Equation.KSEE3">
                    <p:embed/>
                  </p:oleObj>
                </mc:Choice>
                <mc:Fallback>
                  <p:oleObj r:id="rId7" imgW="1091565" imgH="266700" progId="Equation.KSEE3">
                    <p:embed/>
                    <p:pic>
                      <p:nvPicPr>
                        <p:cNvPr id="0" name="图片 512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996" y="6028"/>
                          <a:ext cx="2407" cy="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4" name="直接箭头连接符 33"/>
          <p:cNvCxnSpPr>
            <a:stCxn id="12" idx="2"/>
          </p:cNvCxnSpPr>
          <p:nvPr/>
        </p:nvCxnSpPr>
        <p:spPr>
          <a:xfrm flipH="1">
            <a:off x="4143375" y="2753360"/>
            <a:ext cx="440055" cy="1341120"/>
          </a:xfrm>
          <a:prstGeom prst="straightConnector1">
            <a:avLst/>
          </a:prstGeom>
          <a:ln>
            <a:solidFill>
              <a:srgbClr val="C55A1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Tm="44607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390"/>
          <p:cNvSpPr txBox="1">
            <a:spLocks noChangeArrowheads="1"/>
          </p:cNvSpPr>
          <p:nvPr/>
        </p:nvSpPr>
        <p:spPr bwMode="auto">
          <a:xfrm>
            <a:off x="821055" y="240136"/>
            <a:ext cx="676560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sz="2400" b="1" dirty="0">
                <a:ln w="0"/>
                <a:solidFill>
                  <a:srgbClr val="26323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Visual Concepts</a:t>
            </a:r>
          </a:p>
        </p:txBody>
      </p:sp>
      <p:grpSp>
        <p:nvGrpSpPr>
          <p:cNvPr id="13" name="组合 49"/>
          <p:cNvGrpSpPr/>
          <p:nvPr/>
        </p:nvGrpSpPr>
        <p:grpSpPr>
          <a:xfrm>
            <a:off x="435819" y="279614"/>
            <a:ext cx="197506" cy="296260"/>
            <a:chOff x="5284519" y="1508166"/>
            <a:chExt cx="213756" cy="427512"/>
          </a:xfrm>
        </p:grpSpPr>
        <p:cxnSp>
          <p:nvCxnSpPr>
            <p:cNvPr id="14" name="直接连接符 50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51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直角三角形 18"/>
          <p:cNvSpPr/>
          <p:nvPr/>
        </p:nvSpPr>
        <p:spPr>
          <a:xfrm flipH="1">
            <a:off x="8328135" y="4328216"/>
            <a:ext cx="815866" cy="815866"/>
          </a:xfrm>
          <a:prstGeom prst="rtTriangle">
            <a:avLst/>
          </a:prstGeom>
          <a:solidFill>
            <a:srgbClr val="26323D"/>
          </a:solidFill>
          <a:ln>
            <a:solidFill>
              <a:srgbClr val="2632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幻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8607974" y="4647467"/>
            <a:ext cx="439463" cy="46114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C03111-C1D4-7D4B-AB9F-B23D9E4AF7E6}" type="slidenum">
              <a:rPr kumimoji="1" lang="zh-CN" altLang="en-US" sz="2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rPr>
              <a:t>4</a:t>
            </a:fld>
            <a:endParaRPr kumimoji="1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Impact" panose="020B0806030902050204" pitchFamily="34" charset="0"/>
              <a:cs typeface="Impact" panose="020B0806030902050204" pitchFamily="34" charset="0"/>
            </a:endParaRPr>
          </a:p>
        </p:txBody>
      </p:sp>
      <p:cxnSp>
        <p:nvCxnSpPr>
          <p:cNvPr id="9" name="直线连接符 8"/>
          <p:cNvCxnSpPr/>
          <p:nvPr/>
        </p:nvCxnSpPr>
        <p:spPr>
          <a:xfrm flipV="1">
            <a:off x="322828" y="757327"/>
            <a:ext cx="8521629" cy="0"/>
          </a:xfrm>
          <a:prstGeom prst="line">
            <a:avLst/>
          </a:prstGeom>
          <a:ln w="12700">
            <a:solidFill>
              <a:srgbClr val="26323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01015" y="945012"/>
            <a:ext cx="792416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get pre-defined visual concepts?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01015" y="1374907"/>
            <a:ext cx="5511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manually 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 models to represent the visual concepts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1502410" y="2056765"/>
            <a:ext cx="5939155" cy="1768475"/>
            <a:chOff x="-391" y="3319"/>
            <a:chExt cx="9353" cy="278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22140" r="39468"/>
            <a:stretch>
              <a:fillRect/>
            </a:stretch>
          </p:blipFill>
          <p:spPr>
            <a:xfrm>
              <a:off x="1115" y="3850"/>
              <a:ext cx="7627" cy="1783"/>
            </a:xfrm>
            <a:prstGeom prst="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12562" r="80526" b="44855"/>
            <a:stretch>
              <a:fillRect/>
            </a:stretch>
          </p:blipFill>
          <p:spPr>
            <a:xfrm>
              <a:off x="-391" y="3862"/>
              <a:ext cx="1294" cy="1093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12562" r="93499" b="68348"/>
            <a:stretch>
              <a:fillRect/>
            </a:stretch>
          </p:blipFill>
          <p:spPr>
            <a:xfrm>
              <a:off x="2951" y="3327"/>
              <a:ext cx="506" cy="574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6501" t="31302" r="79187" b="46413"/>
            <a:stretch>
              <a:fillRect/>
            </a:stretch>
          </p:blipFill>
          <p:spPr>
            <a:xfrm>
              <a:off x="5137" y="3319"/>
              <a:ext cx="1039" cy="62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11844" t="17588" r="81534" b="64218"/>
            <a:stretch>
              <a:fillRect/>
            </a:stretch>
          </p:blipFill>
          <p:spPr>
            <a:xfrm>
              <a:off x="4366" y="3382"/>
              <a:ext cx="530" cy="56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5779" t="15835" r="85989" b="63906"/>
            <a:stretch>
              <a:fillRect/>
            </a:stretch>
          </p:blipFill>
          <p:spPr>
            <a:xfrm>
              <a:off x="3585" y="3392"/>
              <a:ext cx="547" cy="52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7749" y="4955"/>
              <a:ext cx="121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horse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725" y="5474"/>
              <a:ext cx="968" cy="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70000"/>
                </a:lnSpc>
              </a:pPr>
              <a:r>
                <a:rPr lang="en-US" altLang="zh-CN" sz="1400" b="1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head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585" y="5486"/>
              <a:ext cx="1003" cy="6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70000"/>
                </a:lnSpc>
              </a:pPr>
              <a:r>
                <a:rPr lang="en-US" altLang="zh-CN" sz="1400" b="1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front torso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402" y="5486"/>
              <a:ext cx="1003" cy="6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70000"/>
                </a:lnSpc>
              </a:pPr>
              <a:r>
                <a:rPr lang="en-US" altLang="zh-CN" sz="1400" b="1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rear torso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13" y="5486"/>
              <a:ext cx="1536" cy="6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70000"/>
                </a:lnSpc>
              </a:pPr>
              <a:r>
                <a:rPr lang="en-US" altLang="zh-CN" sz="1400" b="1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legs and feet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118995" y="3825240"/>
            <a:ext cx="4659630" cy="1283970"/>
            <a:chOff x="3379" y="5839"/>
            <a:chExt cx="7338" cy="2022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63175" t="22140"/>
            <a:stretch>
              <a:fillRect/>
            </a:stretch>
          </p:blipFill>
          <p:spPr>
            <a:xfrm>
              <a:off x="5183" y="6078"/>
              <a:ext cx="4640" cy="1783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81815" b="43471"/>
            <a:stretch>
              <a:fillRect/>
            </a:stretch>
          </p:blipFill>
          <p:spPr>
            <a:xfrm>
              <a:off x="3379" y="5839"/>
              <a:ext cx="1481" cy="1606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/>
          </p:nvSpPr>
          <p:spPr>
            <a:xfrm>
              <a:off x="9180" y="6290"/>
              <a:ext cx="1537" cy="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70000"/>
                </a:lnSpc>
              </a:pPr>
              <a:r>
                <a:rPr lang="en-US" altLang="zh-CN" sz="1400" b="1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attractive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180" y="6636"/>
              <a:ext cx="1537" cy="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70000"/>
                </a:lnSpc>
              </a:pPr>
              <a:r>
                <a:rPr lang="en-US" altLang="zh-CN" sz="1400" b="1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young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180" y="7268"/>
              <a:ext cx="1537" cy="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70000"/>
                </a:lnSpc>
              </a:pPr>
              <a:r>
                <a:rPr lang="en-US" altLang="zh-CN" sz="1400" b="1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female</a:t>
              </a: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33095" y="2164715"/>
            <a:ext cx="1017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 1.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33095" y="3963035"/>
            <a:ext cx="1017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 2.</a:t>
            </a:r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2348865" y="2748280"/>
            <a:ext cx="269875" cy="635"/>
          </a:xfrm>
          <a:prstGeom prst="straightConnector1">
            <a:avLst/>
          </a:prstGeom>
          <a:ln>
            <a:solidFill>
              <a:srgbClr val="26323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3059430" y="4451985"/>
            <a:ext cx="269875" cy="635"/>
          </a:xfrm>
          <a:prstGeom prst="straightConnector1">
            <a:avLst/>
          </a:prstGeom>
          <a:ln>
            <a:solidFill>
              <a:srgbClr val="26323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Tm="40806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390"/>
          <p:cNvSpPr txBox="1">
            <a:spLocks noChangeArrowheads="1"/>
          </p:cNvSpPr>
          <p:nvPr/>
        </p:nvSpPr>
        <p:spPr bwMode="auto">
          <a:xfrm>
            <a:off x="821055" y="240136"/>
            <a:ext cx="676560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sz="2400" b="1" dirty="0">
                <a:ln w="0"/>
                <a:solidFill>
                  <a:srgbClr val="26323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Bias-interpreting Problem</a:t>
            </a:r>
          </a:p>
        </p:txBody>
      </p:sp>
      <p:grpSp>
        <p:nvGrpSpPr>
          <p:cNvPr id="13" name="组合 49"/>
          <p:cNvGrpSpPr/>
          <p:nvPr/>
        </p:nvGrpSpPr>
        <p:grpSpPr>
          <a:xfrm>
            <a:off x="435819" y="279614"/>
            <a:ext cx="197506" cy="296260"/>
            <a:chOff x="5284519" y="1508166"/>
            <a:chExt cx="213756" cy="427512"/>
          </a:xfrm>
        </p:grpSpPr>
        <p:cxnSp>
          <p:nvCxnSpPr>
            <p:cNvPr id="14" name="直接连接符 50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51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直角三角形 18"/>
          <p:cNvSpPr/>
          <p:nvPr/>
        </p:nvSpPr>
        <p:spPr>
          <a:xfrm flipH="1">
            <a:off x="8328135" y="4328216"/>
            <a:ext cx="815866" cy="815866"/>
          </a:xfrm>
          <a:prstGeom prst="rtTriangle">
            <a:avLst/>
          </a:prstGeom>
          <a:solidFill>
            <a:srgbClr val="26323D"/>
          </a:solidFill>
          <a:ln>
            <a:solidFill>
              <a:srgbClr val="2632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幻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8607974" y="4647467"/>
            <a:ext cx="439463" cy="46114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C03111-C1D4-7D4B-AB9F-B23D9E4AF7E6}" type="slidenum">
              <a:rPr kumimoji="1" lang="zh-CN" altLang="en-US" sz="2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rPr>
              <a:t>5</a:t>
            </a:fld>
            <a:endParaRPr kumimoji="1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Impact" panose="020B0806030902050204" pitchFamily="34" charset="0"/>
              <a:cs typeface="Impact" panose="020B0806030902050204" pitchFamily="34" charset="0"/>
            </a:endParaRPr>
          </a:p>
        </p:txBody>
      </p:sp>
      <p:cxnSp>
        <p:nvCxnSpPr>
          <p:cNvPr id="9" name="直线连接符 8"/>
          <p:cNvCxnSpPr/>
          <p:nvPr/>
        </p:nvCxnSpPr>
        <p:spPr>
          <a:xfrm flipV="1">
            <a:off x="322828" y="757327"/>
            <a:ext cx="8521629" cy="0"/>
          </a:xfrm>
          <a:prstGeom prst="line">
            <a:avLst/>
          </a:prstGeom>
          <a:ln w="12700">
            <a:solidFill>
              <a:srgbClr val="26323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01015" y="920750"/>
            <a:ext cx="4665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Problem: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2130425" y="3406140"/>
            <a:ext cx="5633085" cy="922020"/>
            <a:chOff x="2531" y="5511"/>
            <a:chExt cx="8871" cy="1452"/>
          </a:xfrm>
        </p:grpSpPr>
        <p:sp>
          <p:nvSpPr>
            <p:cNvPr id="4" name="文本框 3"/>
            <p:cNvSpPr txBox="1"/>
            <p:nvPr/>
          </p:nvSpPr>
          <p:spPr>
            <a:xfrm>
              <a:off x="2531" y="5511"/>
              <a:ext cx="4343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26323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Given a large number of visual concepts, </a:t>
              </a:r>
              <a:r>
                <a:rPr lang="en-US" altLang="zh-CN" b="1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very few</a:t>
              </a:r>
              <a:r>
                <a:rPr lang="en-US" altLang="zh-CN">
                  <a:solidFill>
                    <a:srgbClr val="26323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are used.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182" y="5511"/>
              <a:ext cx="422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26323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What we want: </a:t>
              </a:r>
              <a:r>
                <a:rPr lang="en-US" altLang="zh-CN" b="1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almost all</a:t>
              </a:r>
              <a:r>
                <a:rPr lang="en-US" altLang="zh-CN">
                  <a:solidFill>
                    <a:srgbClr val="26323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visual concepts are used.</a:t>
              </a: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2420620" y="1319530"/>
            <a:ext cx="2468245" cy="33718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6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Bias-interpretation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499100" y="1319530"/>
            <a:ext cx="1638300" cy="33718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6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ideal result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50545" y="1735455"/>
            <a:ext cx="8428990" cy="1565910"/>
            <a:chOff x="867" y="2117"/>
            <a:chExt cx="13274" cy="246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12562" b="44855"/>
            <a:stretch>
              <a:fillRect/>
            </a:stretch>
          </p:blipFill>
          <p:spPr>
            <a:xfrm>
              <a:off x="867" y="2620"/>
              <a:ext cx="11359" cy="1867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12083" y="4034"/>
              <a:ext cx="2058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70000"/>
                </a:lnSpc>
              </a:pPr>
              <a:r>
                <a:rPr lang="en-US" altLang="zh-CN" sz="1200">
                  <a:latin typeface="Calibri" panose="020F0502020204030204" pitchFamily="34" charset="0"/>
                  <a:cs typeface="Calibri" panose="020F0502020204030204" pitchFamily="34" charset="0"/>
                </a:rPr>
                <a:t>x-axis:</a:t>
              </a:r>
            </a:p>
            <a:p>
              <a:pPr fontAlgn="auto">
                <a:lnSpc>
                  <a:spcPct val="70000"/>
                </a:lnSpc>
              </a:pPr>
              <a:r>
                <a:rPr lang="en-US" altLang="zh-CN" sz="1200">
                  <a:solidFill>
                    <a:srgbClr val="26323D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+mn-ea"/>
                </a:rPr>
                <a:t>visual concepts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927" y="2117"/>
              <a:ext cx="2283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70000"/>
                </a:lnSpc>
              </a:pPr>
              <a:r>
                <a:rPr lang="en-US" altLang="zh-CN" sz="1200">
                  <a:latin typeface="Calibri" panose="020F0502020204030204" pitchFamily="34" charset="0"/>
                  <a:cs typeface="Calibri" panose="020F0502020204030204" pitchFamily="34" charset="0"/>
                </a:rPr>
                <a:t>y-axis:</a:t>
              </a:r>
            </a:p>
            <a:p>
              <a:pPr fontAlgn="auto">
                <a:lnSpc>
                  <a:spcPct val="70000"/>
                </a:lnSpc>
              </a:pPr>
              <a:r>
                <a:rPr lang="en-US" altLang="zh-CN" sz="1200">
                  <a:solidFill>
                    <a:srgbClr val="26323D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+mn-ea"/>
                </a:rPr>
                <a:t>contribution value</a:t>
              </a:r>
            </a:p>
          </p:txBody>
        </p:sp>
      </p:grpSp>
    </p:spTree>
  </p:cSld>
  <p:clrMapOvr>
    <a:masterClrMapping/>
  </p:clrMapOvr>
  <p:transition advTm="2613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390"/>
          <p:cNvSpPr txBox="1">
            <a:spLocks noChangeArrowheads="1"/>
          </p:cNvSpPr>
          <p:nvPr/>
        </p:nvSpPr>
        <p:spPr bwMode="auto">
          <a:xfrm>
            <a:off x="821055" y="240136"/>
            <a:ext cx="676560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sz="2400" b="1" dirty="0">
                <a:ln w="0"/>
                <a:solidFill>
                  <a:srgbClr val="26323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+mn-ea"/>
              </a:rPr>
              <a:t>Bias-interpreting Problem</a:t>
            </a:r>
            <a:endParaRPr lang="en-US" sz="2400" b="1" dirty="0">
              <a:ln w="0"/>
              <a:solidFill>
                <a:srgbClr val="26323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13" name="组合 49"/>
          <p:cNvGrpSpPr/>
          <p:nvPr/>
        </p:nvGrpSpPr>
        <p:grpSpPr>
          <a:xfrm>
            <a:off x="435819" y="279614"/>
            <a:ext cx="197506" cy="296260"/>
            <a:chOff x="5284519" y="1508166"/>
            <a:chExt cx="213756" cy="427512"/>
          </a:xfrm>
        </p:grpSpPr>
        <p:cxnSp>
          <p:nvCxnSpPr>
            <p:cNvPr id="14" name="直接连接符 50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51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直角三角形 18"/>
          <p:cNvSpPr/>
          <p:nvPr/>
        </p:nvSpPr>
        <p:spPr>
          <a:xfrm flipH="1">
            <a:off x="8328135" y="4328216"/>
            <a:ext cx="815866" cy="815866"/>
          </a:xfrm>
          <a:prstGeom prst="rtTriangle">
            <a:avLst/>
          </a:prstGeom>
          <a:solidFill>
            <a:srgbClr val="26323D"/>
          </a:solidFill>
          <a:ln>
            <a:solidFill>
              <a:srgbClr val="2632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幻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8607974" y="4647467"/>
            <a:ext cx="439463" cy="46114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C03111-C1D4-7D4B-AB9F-B23D9E4AF7E6}" type="slidenum">
              <a:rPr kumimoji="1" lang="zh-CN" altLang="en-US" sz="2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rPr>
              <a:t>6</a:t>
            </a:fld>
            <a:endParaRPr kumimoji="1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Impact" panose="020B0806030902050204" pitchFamily="34" charset="0"/>
              <a:cs typeface="Impact" panose="020B0806030902050204" pitchFamily="34" charset="0"/>
            </a:endParaRPr>
          </a:p>
        </p:txBody>
      </p:sp>
      <p:cxnSp>
        <p:nvCxnSpPr>
          <p:cNvPr id="9" name="直线连接符 8"/>
          <p:cNvCxnSpPr/>
          <p:nvPr/>
        </p:nvCxnSpPr>
        <p:spPr>
          <a:xfrm flipV="1">
            <a:off x="322828" y="757327"/>
            <a:ext cx="8521629" cy="0"/>
          </a:xfrm>
          <a:prstGeom prst="line">
            <a:avLst/>
          </a:prstGeom>
          <a:ln w="12700">
            <a:solidFill>
              <a:srgbClr val="26323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99795" y="916305"/>
            <a:ext cx="73437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Solution: priors of contribution</a:t>
            </a:r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rgbClr val="26323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Add </a:t>
            </a:r>
            <a:r>
              <a:rPr lang="en-US" altLang="zh-CN" b="1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 loss for priors</a:t>
            </a:r>
            <a:r>
              <a:rPr lang="en-US" altLang="zh-CN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:</a:t>
            </a:r>
            <a:endParaRPr lang="zh-CN" altLang="en-US">
              <a:solidFill>
                <a:srgbClr val="26323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041525" y="1746885"/>
            <a:ext cx="6054090" cy="1651000"/>
            <a:chOff x="3697" y="3417"/>
            <a:chExt cx="9534" cy="2600"/>
          </a:xfrm>
        </p:grpSpPr>
        <p:sp>
          <p:nvSpPr>
            <p:cNvPr id="16" name="椭圆 15"/>
            <p:cNvSpPr/>
            <p:nvPr/>
          </p:nvSpPr>
          <p:spPr>
            <a:xfrm>
              <a:off x="8587" y="4167"/>
              <a:ext cx="2151" cy="834"/>
            </a:xfrm>
            <a:prstGeom prst="ellipse">
              <a:avLst/>
            </a:prstGeom>
            <a:noFill/>
            <a:ln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箭头连接符 26"/>
            <p:cNvCxnSpPr/>
            <p:nvPr/>
          </p:nvCxnSpPr>
          <p:spPr>
            <a:xfrm flipV="1">
              <a:off x="10315" y="3997"/>
              <a:ext cx="190" cy="450"/>
            </a:xfrm>
            <a:prstGeom prst="straightConnector1">
              <a:avLst/>
            </a:prstGeom>
            <a:ln>
              <a:solidFill>
                <a:srgbClr val="C55A1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6520" y="5001"/>
              <a:ext cx="671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26323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prior loss penalizes </a:t>
              </a:r>
              <a:r>
                <a:rPr lang="en-US" altLang="zh-CN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dissimilarity between learned contributions and priors </a:t>
              </a:r>
            </a:p>
          </p:txBody>
        </p:sp>
        <p:graphicFrame>
          <p:nvGraphicFramePr>
            <p:cNvPr id="8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3697" y="4182"/>
            <a:ext cx="7007" cy="1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9" r:id="rId4" imgW="2234565" imgH="393700" progId="Equation.KSEE3">
                    <p:embed/>
                  </p:oleObj>
                </mc:Choice>
                <mc:Fallback>
                  <p:oleObj r:id="rId4" imgW="2234565" imgH="393700" progId="Equation.KSEE3">
                    <p:embed/>
                    <p:pic>
                      <p:nvPicPr>
                        <p:cNvPr id="0" name="图片 614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697" y="4182"/>
                          <a:ext cx="7007" cy="12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文本框 20"/>
            <p:cNvSpPr txBox="1"/>
            <p:nvPr/>
          </p:nvSpPr>
          <p:spPr>
            <a:xfrm>
              <a:off x="10130" y="3417"/>
              <a:ext cx="18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26323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priors</a:t>
              </a:r>
            </a:p>
          </p:txBody>
        </p:sp>
      </p:grpSp>
      <p:cxnSp>
        <p:nvCxnSpPr>
          <p:cNvPr id="3" name="直接箭头连接符 2"/>
          <p:cNvCxnSpPr>
            <a:endCxn id="4" idx="2"/>
          </p:cNvCxnSpPr>
          <p:nvPr/>
        </p:nvCxnSpPr>
        <p:spPr>
          <a:xfrm flipH="1" flipV="1">
            <a:off x="5020310" y="2137410"/>
            <a:ext cx="681355" cy="263525"/>
          </a:xfrm>
          <a:prstGeom prst="straightConnector1">
            <a:avLst/>
          </a:prstGeom>
          <a:ln>
            <a:solidFill>
              <a:srgbClr val="C55A1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338955" y="1553845"/>
            <a:ext cx="1362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learned contributions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739775" y="3666490"/>
            <a:ext cx="8180070" cy="1202055"/>
            <a:chOff x="1045" y="2380"/>
            <a:chExt cx="12882" cy="1893"/>
          </a:xfrm>
        </p:grpSpPr>
        <p:sp>
          <p:nvSpPr>
            <p:cNvPr id="36" name="文本框 35"/>
            <p:cNvSpPr txBox="1"/>
            <p:nvPr/>
          </p:nvSpPr>
          <p:spPr>
            <a:xfrm>
              <a:off x="1045" y="2380"/>
              <a:ext cx="613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26323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Type 1.  The visual concept should be </a:t>
              </a:r>
              <a:r>
                <a:rPr lang="en-US" altLang="zh-CN">
                  <a:solidFill>
                    <a:srgbClr val="C55A1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positively </a:t>
              </a:r>
              <a:r>
                <a:rPr lang="en-US" altLang="zh-CN">
                  <a:solidFill>
                    <a:srgbClr val="26323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related to the prediction</a:t>
              </a:r>
              <a:endParaRPr lang="en-US" altLang="zh-CN" sz="1400">
                <a:solidFill>
                  <a:srgbClr val="26323D"/>
                </a:solidFill>
                <a:latin typeface="Calibri Light" panose="020F0302020204030204" charset="0"/>
                <a:cs typeface="Calibri Light" panose="020F0302020204030204" charset="0"/>
              </a:endParaRPr>
            </a:p>
          </p:txBody>
        </p:sp>
        <p:graphicFrame>
          <p:nvGraphicFramePr>
            <p:cNvPr id="37" name="对象 36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283" y="3396"/>
            <a:ext cx="5459" cy="8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0" r:id="rId6" imgW="2476500" imgH="431800" progId="Equation.KSEE3">
                    <p:embed/>
                  </p:oleObj>
                </mc:Choice>
                <mc:Fallback>
                  <p:oleObj r:id="rId6" imgW="2476500" imgH="431800" progId="Equation.KSEE3">
                    <p:embed/>
                    <p:pic>
                      <p:nvPicPr>
                        <p:cNvPr id="0" name="图片 6146"/>
                        <p:cNvPicPr/>
                        <p:nvPr/>
                      </p:nvPicPr>
                      <p:blipFill>
                        <a:blip r:embed="rId7"/>
                        <a:srcRect t="8000"/>
                        <a:stretch>
                          <a:fillRect/>
                        </a:stretch>
                      </p:blipFill>
                      <p:spPr>
                        <a:xfrm>
                          <a:off x="1283" y="3396"/>
                          <a:ext cx="5459" cy="8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9" name="组合 38"/>
            <p:cNvGrpSpPr/>
            <p:nvPr/>
          </p:nvGrpSpPr>
          <p:grpSpPr>
            <a:xfrm>
              <a:off x="7422" y="2380"/>
              <a:ext cx="6505" cy="1893"/>
              <a:chOff x="1245" y="2580"/>
              <a:chExt cx="6505" cy="1893"/>
            </a:xfrm>
          </p:grpSpPr>
          <p:graphicFrame>
            <p:nvGraphicFramePr>
              <p:cNvPr id="40" name="对象 39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1808" y="3595"/>
              <a:ext cx="3640" cy="8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1" r:id="rId8" imgW="1651000" imgH="431800" progId="Equation.KSEE3">
                      <p:embed/>
                    </p:oleObj>
                  </mc:Choice>
                  <mc:Fallback>
                    <p:oleObj r:id="rId8" imgW="1651000" imgH="431800" progId="Equation.KSEE3">
                      <p:embed/>
                      <p:pic>
                        <p:nvPicPr>
                          <p:cNvPr id="0" name="图片 6146"/>
                          <p:cNvPicPr/>
                          <p:nvPr/>
                        </p:nvPicPr>
                        <p:blipFill>
                          <a:blip r:embed="rId9"/>
                          <a:srcRect t="8000"/>
                          <a:stretch>
                            <a:fillRect/>
                          </a:stretch>
                        </p:blipFill>
                        <p:spPr>
                          <a:xfrm>
                            <a:off x="1808" y="3595"/>
                            <a:ext cx="3640" cy="87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" name="文本框 41"/>
              <p:cNvSpPr txBox="1"/>
              <p:nvPr/>
            </p:nvSpPr>
            <p:spPr>
              <a:xfrm>
                <a:off x="1245" y="2580"/>
                <a:ext cx="650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solidFill>
                      <a:srgbClr val="26323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Type 2.</a:t>
                </a:r>
                <a:endParaRPr lang="en-US" altLang="zh-CN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43" name="直接连接符 42"/>
            <p:cNvCxnSpPr/>
            <p:nvPr/>
          </p:nvCxnSpPr>
          <p:spPr>
            <a:xfrm flipH="1">
              <a:off x="7223" y="2517"/>
              <a:ext cx="5" cy="1569"/>
            </a:xfrm>
            <a:prstGeom prst="line">
              <a:avLst/>
            </a:prstGeom>
            <a:ln>
              <a:solidFill>
                <a:srgbClr val="26323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advTm="18918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49"/>
          <p:cNvGrpSpPr/>
          <p:nvPr/>
        </p:nvGrpSpPr>
        <p:grpSpPr>
          <a:xfrm>
            <a:off x="435819" y="279614"/>
            <a:ext cx="197506" cy="296260"/>
            <a:chOff x="5284519" y="1508166"/>
            <a:chExt cx="213756" cy="427512"/>
          </a:xfrm>
        </p:grpSpPr>
        <p:cxnSp>
          <p:nvCxnSpPr>
            <p:cNvPr id="14" name="直接连接符 50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51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直角三角形 18"/>
          <p:cNvSpPr/>
          <p:nvPr/>
        </p:nvSpPr>
        <p:spPr>
          <a:xfrm flipH="1">
            <a:off x="8328135" y="4328216"/>
            <a:ext cx="815866" cy="815866"/>
          </a:xfrm>
          <a:prstGeom prst="rtTriangle">
            <a:avLst/>
          </a:prstGeom>
          <a:solidFill>
            <a:srgbClr val="26323D"/>
          </a:solidFill>
          <a:ln>
            <a:solidFill>
              <a:srgbClr val="2632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幻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8607974" y="4647467"/>
            <a:ext cx="439463" cy="46114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C03111-C1D4-7D4B-AB9F-B23D9E4AF7E6}" type="slidenum">
              <a:rPr kumimoji="1" lang="zh-CN" altLang="en-US" sz="2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rPr>
              <a:t>7</a:t>
            </a:fld>
            <a:endParaRPr kumimoji="1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Impact" panose="020B0806030902050204" pitchFamily="34" charset="0"/>
              <a:cs typeface="Impact" panose="020B0806030902050204" pitchFamily="34" charset="0"/>
            </a:endParaRPr>
          </a:p>
        </p:txBody>
      </p:sp>
      <p:cxnSp>
        <p:nvCxnSpPr>
          <p:cNvPr id="9" name="直线连接符 8"/>
          <p:cNvCxnSpPr/>
          <p:nvPr/>
        </p:nvCxnSpPr>
        <p:spPr>
          <a:xfrm flipV="1">
            <a:off x="322828" y="757327"/>
            <a:ext cx="8521629" cy="0"/>
          </a:xfrm>
          <a:prstGeom prst="line">
            <a:avLst/>
          </a:prstGeom>
          <a:ln w="12700">
            <a:solidFill>
              <a:srgbClr val="26323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" name="矩形 3"/>
          <p:cNvSpPr/>
          <p:nvPr/>
        </p:nvSpPr>
        <p:spPr>
          <a:xfrm>
            <a:off x="291465" y="18415"/>
            <a:ext cx="8852535" cy="913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740" y="241935"/>
            <a:ext cx="8756015" cy="23190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b="31495"/>
          <a:stretch>
            <a:fillRect/>
          </a:stretch>
        </p:blipFill>
        <p:spPr>
          <a:xfrm>
            <a:off x="1035685" y="2694940"/>
            <a:ext cx="6755765" cy="2295525"/>
          </a:xfrm>
          <a:prstGeom prst="rect">
            <a:avLst/>
          </a:prstGeom>
        </p:spPr>
      </p:pic>
    </p:spTree>
  </p:cSld>
  <p:clrMapOvr>
    <a:masterClrMapping/>
  </p:clrMapOvr>
  <p:transition advTm="4342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390"/>
          <p:cNvSpPr txBox="1">
            <a:spLocks noChangeArrowheads="1"/>
          </p:cNvSpPr>
          <p:nvPr/>
        </p:nvSpPr>
        <p:spPr bwMode="auto">
          <a:xfrm>
            <a:off x="821055" y="240136"/>
            <a:ext cx="676560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sz="2400" b="1" dirty="0">
                <a:ln w="0"/>
                <a:solidFill>
                  <a:srgbClr val="26323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Contribution</a:t>
            </a:r>
          </a:p>
        </p:txBody>
      </p:sp>
      <p:grpSp>
        <p:nvGrpSpPr>
          <p:cNvPr id="13" name="组合 49"/>
          <p:cNvGrpSpPr/>
          <p:nvPr/>
        </p:nvGrpSpPr>
        <p:grpSpPr>
          <a:xfrm>
            <a:off x="435819" y="279614"/>
            <a:ext cx="197506" cy="296260"/>
            <a:chOff x="5284519" y="1508166"/>
            <a:chExt cx="213756" cy="427512"/>
          </a:xfrm>
        </p:grpSpPr>
        <p:cxnSp>
          <p:nvCxnSpPr>
            <p:cNvPr id="14" name="直接连接符 50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51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直角三角形 18"/>
          <p:cNvSpPr/>
          <p:nvPr/>
        </p:nvSpPr>
        <p:spPr>
          <a:xfrm flipH="1">
            <a:off x="8328135" y="4328216"/>
            <a:ext cx="815866" cy="815866"/>
          </a:xfrm>
          <a:prstGeom prst="rtTriangle">
            <a:avLst/>
          </a:prstGeom>
          <a:solidFill>
            <a:srgbClr val="26323D"/>
          </a:solidFill>
          <a:ln>
            <a:solidFill>
              <a:srgbClr val="2632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幻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8607974" y="4647467"/>
            <a:ext cx="439463" cy="46114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C03111-C1D4-7D4B-AB9F-B23D9E4AF7E6}" type="slidenum">
              <a:rPr kumimoji="1" lang="zh-CN" altLang="en-US" sz="2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rPr>
              <a:t>8</a:t>
            </a:fld>
            <a:endParaRPr kumimoji="1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Impact" panose="020B0806030902050204" pitchFamily="34" charset="0"/>
              <a:cs typeface="Impact" panose="020B0806030902050204" pitchFamily="34" charset="0"/>
            </a:endParaRPr>
          </a:p>
        </p:txBody>
      </p:sp>
      <p:cxnSp>
        <p:nvCxnSpPr>
          <p:cNvPr id="9" name="直线连接符 8"/>
          <p:cNvCxnSpPr/>
          <p:nvPr/>
        </p:nvCxnSpPr>
        <p:spPr>
          <a:xfrm flipV="1">
            <a:off x="322828" y="757327"/>
            <a:ext cx="8521629" cy="0"/>
          </a:xfrm>
          <a:prstGeom prst="line">
            <a:avLst/>
          </a:prstGeom>
          <a:ln w="12700">
            <a:solidFill>
              <a:srgbClr val="26323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56615" y="1220470"/>
            <a:ext cx="78949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Explaining networks </a:t>
            </a:r>
            <a:r>
              <a:rPr lang="en-US" altLang="zh-CN" sz="240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semantically and quantitatively</a:t>
            </a:r>
            <a:r>
              <a:rPr lang="en-US" altLang="zh-CN" sz="24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2400">
              <a:solidFill>
                <a:srgbClr val="C55A1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rgbClr val="26323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Distillation</a:t>
            </a:r>
            <a:r>
              <a:rPr lang="en-US" altLang="zh-CN" sz="24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a pre-trained performer into an explainer.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novel loss to overcome the bias-interpreting problem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rgbClr val="26323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altLang="zh-CN" sz="240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generic </a:t>
            </a:r>
            <a:r>
              <a:rPr lang="en-US" altLang="zh-CN" sz="24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 to various tasks and networks.</a:t>
            </a: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17066" y="3898239"/>
            <a:ext cx="9133284" cy="6686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>
            <a:spAutoFit/>
          </a:bodyPr>
          <a:lstStyle/>
          <a:p>
            <a:pPr algn="ctr" defTabSz="1450340"/>
            <a:r>
              <a:rPr kumimoji="1" lang="en-US" altLang="zh-CN" sz="4050" b="1" dirty="0">
                <a:solidFill>
                  <a:srgbClr val="26323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 YOU !</a:t>
            </a:r>
            <a:endParaRPr kumimoji="1" lang="en-CA" altLang="zh-CN" sz="4050" b="1" dirty="0">
              <a:solidFill>
                <a:srgbClr val="26323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5345" y="4506093"/>
            <a:ext cx="2353310" cy="46037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2400">
                <a:solidFill>
                  <a:srgbClr val="2632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POSTER  #4</a:t>
            </a:r>
          </a:p>
        </p:txBody>
      </p:sp>
    </p:spTree>
    <p:custDataLst>
      <p:tags r:id="rId1"/>
    </p:custDataLst>
  </p:cSld>
  <p:clrMapOvr>
    <a:masterClrMapping/>
  </p:clrMapOvr>
  <p:transition advTm="414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7"/>
</p:tagLst>
</file>

<file path=ppt/theme/theme1.xml><?xml version="1.0" encoding="utf-8"?>
<a:theme xmlns:a="http://schemas.openxmlformats.org/drawingml/2006/main" name="Office 主题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PPT模板0524-txy</Template>
  <TotalTime>818</TotalTime>
  <Words>375</Words>
  <Application>Microsoft Office PowerPoint</Application>
  <PresentationFormat>全屏显示(16:9)</PresentationFormat>
  <Paragraphs>90</Paragraphs>
  <Slides>8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等线</vt:lpstr>
      <vt:lpstr>DengXian Light</vt:lpstr>
      <vt:lpstr>微软雅黑</vt:lpstr>
      <vt:lpstr>Arial</vt:lpstr>
      <vt:lpstr>Calibri</vt:lpstr>
      <vt:lpstr>Calibri Light</vt:lpstr>
      <vt:lpstr>Impact</vt:lpstr>
      <vt:lpstr>Times New Roman</vt:lpstr>
      <vt:lpstr>Office 主题</vt:lpstr>
      <vt:lpstr>1_Office 主题</vt:lpstr>
      <vt:lpstr>WPS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J R</cp:lastModifiedBy>
  <cp:revision>264</cp:revision>
  <dcterms:created xsi:type="dcterms:W3CDTF">2018-06-19T08:08:00Z</dcterms:created>
  <dcterms:modified xsi:type="dcterms:W3CDTF">2019-10-01T03:02:30Z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2052-11.1.0.9022</vt:lpwstr>
  </property>
</Properties>
</file>